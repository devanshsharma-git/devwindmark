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8FB9F5"/>
                </a:solidFill>
                <a:latin typeface="Aptos"/>
              </a:defRPr>
            </a:pPr>
            <a:r>
              <a:t>DEVWIND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81381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Know the forecast.</a:t>
            </a:r>
            <a:br/>
            <a:r>
              <a:t>Understand the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0">
                <a:solidFill>
                  <a:srgbClr val="CDD3DA"/>
                </a:solidFill>
                <a:latin typeface="Aptos"/>
              </a:defRPr>
            </a:pPr>
            <a:r>
              <a:t>A wind generation forecast intelligence pilot for day-ahead electricity procurement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4663440"/>
            <a:ext cx="2011680" cy="54864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956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DD3DA"/>
                </a:solidFill>
                <a:latin typeface="Aptos"/>
              </a:defRPr>
            </a:pPr>
            <a:r>
              <a:t>UK utility pilot  |  January 2026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AAB1B9"/>
                </a:solidFill>
                <a:latin typeface="Aptos"/>
              </a:defRPr>
            </a:pPr>
            <a:r>
              <a:t>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1722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AB1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A · CLIENT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A forecast is only useful if you know how much to trust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Day-ahead buying decisions happen before delivery. Wind output is weather-dependent, and forecast uncertainty can change the planning picture.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43200"/>
            <a:ext cx="64008" cy="192024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What the team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300984"/>
            <a:ext cx="3136392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See the wind generation forecast available at decision time, not a later revision.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432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64008" cy="192024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07792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What is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300984"/>
            <a:ext cx="3136392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A consistent view of how forecasts compared with actual generation across historical intervals.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7432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743200"/>
            <a:ext cx="64008" cy="192024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07792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00984"/>
            <a:ext cx="3136392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Understand forecast error and uncertainty before considering other supply options.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5B636E"/>
                </a:solidFill>
                <a:latin typeface="Aptos"/>
              </a:defRPr>
            </a:pPr>
            <a:r>
              <a:t>Pilot scope: national wind generation only, using Elexon actuals and forecasts for January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A · CLIENT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ONE CLEAR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From separate data feeds to one decision-support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The overview brings generation, forecast quality and data coverage together. Values shown in the live product should come from the verified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07791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36E"/>
                </a:solidFill>
                <a:latin typeface="Aptos"/>
              </a:defRPr>
            </a:pPr>
            <a:r>
              <a:t>FORECAST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79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300" b="1">
                <a:solidFill>
                  <a:srgbClr val="2D69BE"/>
                </a:solidFill>
                <a:latin typeface="Aptos"/>
              </a:defRPr>
            </a:pPr>
            <a:r>
              <a:t>Selected interval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57015"/>
            <a:ext cx="2331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B636E"/>
                </a:solidFill>
                <a:latin typeface="Aptos"/>
              </a:defRPr>
            </a:pPr>
            <a:r>
              <a:t>Latest eligible forecast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7889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1" y="2907791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36E"/>
                </a:solidFill>
                <a:latin typeface="Aptos"/>
              </a:defRPr>
            </a:pPr>
            <a:r>
              <a:t>ACTUAL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154679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300" b="1">
                <a:solidFill>
                  <a:srgbClr val="2C7E5B"/>
                </a:solidFill>
                <a:latin typeface="Aptos"/>
              </a:defRPr>
            </a:pPr>
            <a:r>
              <a:t>Observed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3557015"/>
            <a:ext cx="2331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B636E"/>
                </a:solidFill>
                <a:latin typeface="Aptos"/>
              </a:defRPr>
            </a:pPr>
            <a:r>
              <a:t>Matched delivery interval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27889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907791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36E"/>
                </a:solidFill>
                <a:latin typeface="Aptos"/>
              </a:defRPr>
            </a:pPr>
            <a:r>
              <a:t>MAE /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154679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300" b="1">
                <a:solidFill>
                  <a:srgbClr val="BC6F25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557015"/>
            <a:ext cx="2331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B636E"/>
                </a:solidFill>
                <a:latin typeface="Aptos"/>
              </a:defRPr>
            </a:pPr>
            <a:r>
              <a:t>Magnitude of forecast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7889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2907791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36E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3154679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300" b="1">
                <a:solidFill>
                  <a:srgbClr val="5B636E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3557015"/>
            <a:ext cx="2240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B636E"/>
                </a:solidFill>
                <a:latin typeface="Aptos"/>
              </a:defRPr>
            </a:pPr>
            <a:r>
              <a:t>Matched valid intervals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7200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Demo cue: point to the real dashboard metrics. Do not narrate example values as real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A · CLIENT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EXPLORE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Compare what was forecast with what actually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Filter to a delivery date, inspect a 30-minute interval, and trace the selected forecast back to its publication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6858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34640"/>
            <a:ext cx="645566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121417"/>
                </a:solidFill>
                <a:latin typeface="Aptos"/>
              </a:defRPr>
            </a:pPr>
            <a:r>
              <a:t>Forecast vs actual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319272"/>
            <a:ext cx="6172200" cy="7315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4035552"/>
            <a:ext cx="6172200" cy="7315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751832"/>
            <a:ext cx="6172200" cy="7315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5468112"/>
            <a:ext cx="6172200" cy="7315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319272"/>
            <a:ext cx="10972" cy="2148840"/>
          </a:xfrm>
          <a:prstGeom prst="rect">
            <a:avLst/>
          </a:prstGeom>
          <a:solidFill>
            <a:srgbClr val="5B636E"/>
          </a:solidFill>
          <a:ln>
            <a:solidFill>
              <a:srgbClr val="5B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5468112"/>
            <a:ext cx="6172200" cy="10972"/>
          </a:xfrm>
          <a:prstGeom prst="rect">
            <a:avLst/>
          </a:prstGeom>
          <a:solidFill>
            <a:srgbClr val="5B636E"/>
          </a:solidFill>
          <a:ln>
            <a:solidFill>
              <a:srgbClr val="5B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1143000" y="4544110"/>
            <a:ext cx="771525" cy="193396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14525" y="4544110"/>
            <a:ext cx="771525" cy="128931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686050" y="4221784"/>
            <a:ext cx="771525" cy="451257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57575" y="4221784"/>
            <a:ext cx="771525" cy="128931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29100" y="3985412"/>
            <a:ext cx="771525" cy="365303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00625" y="3985412"/>
            <a:ext cx="771525" cy="128930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72150" y="3792016"/>
            <a:ext cx="771525" cy="322326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43675" y="3792016"/>
            <a:ext cx="771525" cy="257861"/>
          </a:xfrm>
          <a:prstGeom prst="line">
            <a:avLst/>
          </a:prstGeom>
          <a:ln w="28575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43000" y="4673041"/>
            <a:ext cx="771525" cy="193395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914525" y="4479645"/>
            <a:ext cx="771525" cy="193396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686050" y="4415180"/>
            <a:ext cx="771525" cy="64465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57575" y="4157319"/>
            <a:ext cx="771525" cy="257861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29100" y="4157319"/>
            <a:ext cx="771525" cy="85954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000625" y="3942435"/>
            <a:ext cx="771525" cy="300838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72150" y="3942435"/>
            <a:ext cx="771525" cy="85954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543675" y="3834993"/>
            <a:ext cx="771525" cy="193396"/>
          </a:xfrm>
          <a:prstGeom prst="line">
            <a:avLst/>
          </a:prstGeom>
          <a:ln w="28575">
            <a:solidFill>
              <a:srgbClr val="2C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303520" y="2862072"/>
            <a:ext cx="109728" cy="36576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2798064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862072"/>
            <a:ext cx="109728" cy="36576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79806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2743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2743200"/>
            <a:ext cx="64008" cy="91440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9288" y="2907792"/>
            <a:ext cx="3227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Inspect a delivery interval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3300984"/>
            <a:ext cx="32278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Forecast, actual, error and timestamps.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3840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8120" y="3840480"/>
            <a:ext cx="64008" cy="91440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9288" y="4005072"/>
            <a:ext cx="3227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Check the decision cutoff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4398264"/>
            <a:ext cx="32278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Exclude forecasts published too late.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49377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8120" y="4937760"/>
            <a:ext cx="64008" cy="91440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9288" y="5102352"/>
            <a:ext cx="3227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Understand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9288" y="5495544"/>
            <a:ext cx="32278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Make missing coverage visible.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A · CLIENT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QUANTIFY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Four measures answer four different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Together, the metrics show typical error, sensitivity to larger misses, systematic bias and the completeness of the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651760"/>
            <a:ext cx="64008" cy="114300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1635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MAE · Typical error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09544"/>
            <a:ext cx="4873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Average absolute difference between forecast and actual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64008" cy="114300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81635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RMSE · Larger errors matter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209544"/>
            <a:ext cx="4873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Squares errors before averaging, so larger misses carry more weight.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690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069080"/>
            <a:ext cx="64008" cy="114300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3367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Bias · Direction of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626864"/>
            <a:ext cx="4873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Positive means overforecast; negative means underforecast.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069080"/>
            <a:ext cx="64008" cy="1143000"/>
          </a:xfrm>
          <a:prstGeom prst="rect">
            <a:avLst/>
          </a:prstGeom>
          <a:solidFill>
            <a:srgbClr val="5B636E"/>
          </a:solidFill>
          <a:ln>
            <a:solidFill>
              <a:srgbClr val="5B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23367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Coverage · Completeness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626864"/>
            <a:ext cx="48737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Shows how many intervals have both usable forecast and actual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5B636E"/>
                </a:solidFill>
                <a:latin typeface="Aptos"/>
              </a:defRPr>
            </a:pPr>
            <a:r>
              <a:t>Business implication: historical forecast uncertainty can inform planning, but it is not a direct calculation of purchase volume or imbalance cost.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D2D7DD"/>
                </a:solidFill>
                <a:latin typeface="Aptos"/>
              </a:defRPr>
            </a:pPr>
            <a:r>
              <a:t>PART A · CLIENT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D2D7D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464A50"/>
          </a:solidFill>
          <a:ln>
            <a:solidFill>
              <a:srgbClr val="46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80467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A clearer basis for</a:t>
            </a:r>
            <a:br/>
            <a:r>
              <a:t>better-informed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0"/>
            <a:ext cx="89611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0">
                <a:solidFill>
                  <a:srgbClr val="CDD3DA"/>
                </a:solidFill>
                <a:latin typeface="Aptos"/>
              </a:defRPr>
            </a:pPr>
            <a:r>
              <a:t>DevWind Analytics turns historical Elexon wind forecasts and actuals into a transparent view of forecast performance, error patterns and data coverage.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886200"/>
            <a:ext cx="2103120" cy="54864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22452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Pilot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17720"/>
            <a:ext cx="9784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DD3DA"/>
                </a:solidFill>
                <a:latin typeface="Aptos"/>
              </a:defRPr>
            </a:pPr>
            <a:r>
              <a:t>January 2026 historical analysis · National wind generation · No demand, prices or trading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8064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1722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AB1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