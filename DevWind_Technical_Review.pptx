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93CDB1"/>
                </a:solidFill>
                <a:latin typeface="Aptos"/>
              </a:defRPr>
            </a:pPr>
            <a:r>
              <a:t>DEVWIND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84124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Engineering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514600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0">
                <a:solidFill>
                  <a:srgbClr val="CDD3DA"/>
                </a:solidFill>
                <a:latin typeface="Aptos"/>
              </a:defRPr>
            </a:pPr>
            <a:r>
              <a:t>Architecture, data integrity, analytics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794760"/>
            <a:ext cx="2011680" cy="54864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16052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AAB1B9"/>
                </a:solidFill>
                <a:latin typeface="Aptos"/>
              </a:defRPr>
            </a:pPr>
            <a:r>
              <a:t>TECHNICAL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617720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DD3DA"/>
                </a:solidFill>
                <a:latin typeface="Aptos"/>
              </a:defRPr>
            </a:pPr>
            <a:r>
              <a:t>Internal engineering walkthrough  |  Target: 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1722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AB1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B ·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Keep presentation separate from analytical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A small, modular full-stack design makes the calculations testable and the UI easier to evolve.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E7EFFA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260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>
                <a:solidFill>
                  <a:srgbClr val="2D69BE"/>
                </a:solidFill>
                <a:latin typeface="Aptos"/>
              </a:defRPr>
            </a:pPr>
            <a:r>
              <a:t>ELEXON BMRS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73552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121417"/>
                </a:solidFill>
                <a:latin typeface="Aptos"/>
              </a:defRPr>
            </a:pPr>
            <a:r>
              <a:t>FUELHH actuals</a:t>
            </a:r>
            <a:br/>
            <a:r>
              <a:t>WINDFOR forecasts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743200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9260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>
                <a:solidFill>
                  <a:srgbClr val="121417"/>
                </a:solidFill>
                <a:latin typeface="Aptos"/>
              </a:defRPr>
            </a:pPr>
            <a:r>
              <a:t>PYTHON /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273552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121417"/>
                </a:solidFill>
                <a:latin typeface="Aptos"/>
              </a:defRPr>
            </a:pPr>
            <a:r>
              <a:t>Ingest, validate</a:t>
            </a:r>
            <a:br/>
            <a:r>
              <a:t>Select cutoff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E6F3EC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9260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>
                <a:solidFill>
                  <a:srgbClr val="2C7E5B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273552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121417"/>
                </a:solidFill>
                <a:latin typeface="Aptos"/>
              </a:defRPr>
            </a:pPr>
            <a:r>
              <a:t>Error metrics</a:t>
            </a:r>
            <a:br/>
            <a:r>
              <a:t>Coverage and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743200"/>
            <a:ext cx="2240280" cy="1234440"/>
          </a:xfrm>
          <a:prstGeom prst="roundRect">
            <a:avLst>
              <a:gd name="adj" fmla="val 8000"/>
            </a:avLst>
          </a:prstGeom>
          <a:solidFill>
            <a:srgbClr val="FAF1E4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29260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>
                <a:solidFill>
                  <a:srgbClr val="BC6F25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3273552"/>
            <a:ext cx="2011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121417"/>
                </a:solidFill>
                <a:latin typeface="Aptos"/>
              </a:defRPr>
            </a:pPr>
            <a:r>
              <a:t>Charts, filters</a:t>
            </a:r>
            <a:br/>
            <a:r>
              <a:t>Tables and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154680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5B636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154680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5B636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3154680"/>
            <a:ext cx="3840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5B636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64008" cy="91440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736592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129784"/>
            <a:ext cx="30449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React + Vite; filters, charts, tables and KPI cards.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5720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572000"/>
            <a:ext cx="64008" cy="91440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736592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5129784"/>
            <a:ext cx="30449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FastAPI endpoints with validation and structured responses.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5720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572000"/>
            <a:ext cx="64008" cy="91440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4736592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Data /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5129784"/>
            <a:ext cx="30449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Elexon ingestion, cutoff selection and tested metrics.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B ·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The timestamp policy protects the validity of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Actuals and forecasts are matched by delivery interval, but forecast eligibility is determined by publication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0320"/>
            <a:ext cx="438912" cy="393192"/>
          </a:xfrm>
          <a:prstGeom prst="roundRect">
            <a:avLst>
              <a:gd name="adj" fmla="val 8000"/>
            </a:avLst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15184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C7E5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7860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121417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78608"/>
            <a:ext cx="8138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FUELHH actuals and WINDFOR forecasts from Elexon.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82112"/>
            <a:ext cx="438912" cy="393192"/>
          </a:xfrm>
          <a:prstGeom prst="roundRect">
            <a:avLst>
              <a:gd name="adj" fmla="val 8000"/>
            </a:avLst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6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C7E5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0040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121417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00400"/>
            <a:ext cx="8138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Validate units, timestamps, duplicates and missing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03904"/>
            <a:ext cx="438912" cy="393192"/>
          </a:xfrm>
          <a:prstGeom prst="roundRect">
            <a:avLst>
              <a:gd name="adj" fmla="val 8000"/>
            </a:avLst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C7E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22191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121417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822191"/>
            <a:ext cx="8138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Keep the latest forecast available by the configured cutoff.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25696"/>
            <a:ext cx="438912" cy="393192"/>
          </a:xfrm>
          <a:prstGeom prst="roundRect">
            <a:avLst>
              <a:gd name="adj" fmla="val 8000"/>
            </a:avLst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80559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C7E5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43983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121417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43983"/>
            <a:ext cx="8138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Match eligible forecasts with actuals for the same interval.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47488"/>
            <a:ext cx="438912" cy="393192"/>
          </a:xfrm>
          <a:prstGeom prst="roundRect">
            <a:avLst>
              <a:gd name="adj" fmla="val 8000"/>
            </a:avLst>
          </a:prstGeom>
          <a:solidFill>
            <a:srgbClr val="E6F3EC"/>
          </a:solidFill>
          <a:ln>
            <a:solidFill>
              <a:srgbClr val="E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0235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C7E5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65775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121417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065775"/>
            <a:ext cx="8138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Calculate metrics and expose coverage and limitations.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561320" cy="384048"/>
          </a:xfrm>
          <a:prstGeom prst="roundRect">
            <a:avLst>
              <a:gd name="adj" fmla="val 8000"/>
            </a:avLst>
          </a:prstGeom>
          <a:solidFill>
            <a:srgbClr val="FAF1E4"/>
          </a:solidFill>
          <a:ln>
            <a:solidFill>
              <a:srgbClr val="FAF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97880"/>
            <a:ext cx="10149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BC6F25"/>
                </a:solidFill>
                <a:latin typeface="Aptos"/>
              </a:defRPr>
            </a:pPr>
            <a:r>
              <a:t>Critical control: forecasts published after the decision cutoff must never enter the evaluation.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B ·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ANALYTICS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One sign convention, explicit metric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The Python backend owns the calculations so the UI cannot silently diverge from the analytical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64008" cy="105156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7063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Forecast error = forecast −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63824"/>
            <a:ext cx="48737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Positive: overforecast. Negative: underforecast.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06040"/>
            <a:ext cx="64008" cy="105156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7063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63824"/>
            <a:ext cx="48737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Mean of absolute errors; intuitive typical error magnitude.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86200"/>
            <a:ext cx="64008" cy="105156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050791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RMSE and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443984"/>
            <a:ext cx="48737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RMSE emphasizes larger misses; mean error shows direction.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86200"/>
            <a:ext cx="64008" cy="1051560"/>
          </a:xfrm>
          <a:prstGeom prst="rect">
            <a:avLst/>
          </a:prstGeom>
          <a:solidFill>
            <a:srgbClr val="5B636E"/>
          </a:solidFill>
          <a:ln>
            <a:solidFill>
              <a:srgbClr val="5B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50791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443984"/>
            <a:ext cx="48737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Valid matched intervals divided by expected intervals.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5B636E"/>
                </a:solidFill>
                <a:latin typeface="Aptos"/>
              </a:defRPr>
            </a:pPr>
            <a:r>
              <a:t>Review focus: zero / near-zero actuals, missing intervals, duplicate records, units and timezone / daylight-saving behavior.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B ·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QUALITY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Test the failure modes that could invalidate the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Tests should prove behavior with deterministic fixtures, not merely confirm that the app 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64008" cy="123444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24912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Forecast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18103"/>
            <a:ext cx="304495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Reject late-published forecasts; select latest eligible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60320"/>
            <a:ext cx="64008" cy="123444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724912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18103"/>
            <a:ext cx="304495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Duplicate records, missing observations and interval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603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560320"/>
            <a:ext cx="64008" cy="123444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724912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Metrics and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118103"/>
            <a:ext cx="3044952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Known-answer MAE / RMSE / bias and invalid request behavior.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121417"/>
                </a:solidFill>
                <a:latin typeface="Aptos"/>
              </a:defRPr>
            </a:pPr>
            <a:r>
              <a:t>During recording: run the real test command and show the actual pass/fail output. Do not claim results that were not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21417"/>
                </a:solidFill>
                <a:latin typeface="Aptos"/>
              </a:defRPr>
            </a:pPr>
            <a:r>
              <a:t>Reliability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Timeouts and retries · Caching · Environment-based config · CORS · Explicit demo-data labeling · Clear error states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5B636E"/>
                </a:solidFill>
                <a:latin typeface="Aptos"/>
              </a:defRPr>
            </a:pPr>
            <a:r>
              <a:t>PART B ·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5B636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DCE0E5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D69BE"/>
                </a:solidFill>
                <a:latin typeface="Aptos"/>
              </a:defRPr>
            </a:pPr>
            <a:r>
              <a:t>RUN AND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121417"/>
                </a:solidFill>
                <a:latin typeface="Aptos"/>
              </a:defRPr>
            </a:pPr>
            <a:r>
              <a:t>Reproducible local setup; explicit production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5B636E"/>
                </a:solidFill>
                <a:latin typeface="Aptos"/>
              </a:defRPr>
            </a:pPr>
            <a:r>
              <a:t>Docker Compose starts the services together. Production frontend and API can be deployed separately.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64008" cy="1325880"/>
          </a:xfrm>
          <a:prstGeom prst="rect">
            <a:avLst/>
          </a:prstGeom>
          <a:solidFill>
            <a:srgbClr val="2D69BE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7063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Local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63824"/>
            <a:ext cx="487375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docker compose up --build</a:t>
            </a:r>
            <a:br/>
            <a:r>
              <a:t>Frontend, backend and API docs URLs are documented in README.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06040"/>
            <a:ext cx="64008" cy="1325880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7063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Production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63824"/>
            <a:ext cx="487375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Vercel frontend + compatible Python host</a:t>
            </a:r>
            <a:br/>
            <a:r>
              <a:t>API base URL, CORS and secrets configured through environment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51960"/>
            <a:ext cx="64008" cy="1051560"/>
          </a:xfrm>
          <a:prstGeom prst="rect">
            <a:avLst/>
          </a:prstGeom>
          <a:solidFill>
            <a:srgbClr val="BC6F25"/>
          </a:solidFill>
          <a:ln>
            <a:solidFill>
              <a:srgbClr val="BC6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41655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809744"/>
            <a:ext cx="48737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Anonymous public repo name; no secrets or credentials committed.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51960"/>
            <a:ext cx="64008" cy="1051560"/>
          </a:xfrm>
          <a:prstGeom prst="rect">
            <a:avLst/>
          </a:prstGeom>
          <a:solidFill>
            <a:srgbClr val="5B636E"/>
          </a:solidFill>
          <a:ln>
            <a:solidFill>
              <a:srgbClr val="5B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416552"/>
            <a:ext cx="4873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21417"/>
                </a:solidFill>
                <a:latin typeface="Aptos"/>
              </a:defRPr>
            </a:pPr>
            <a:r>
              <a:t>Operational honesty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809744"/>
            <a:ext cx="48737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B636E"/>
                </a:solidFill>
                <a:latin typeface="Aptos"/>
              </a:defRPr>
            </a:pPr>
            <a:r>
              <a:t>A prepared config is not a deployment; verify the live URL and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5B636E"/>
                </a:solidFill>
                <a:latin typeface="Aptos"/>
              </a:defRPr>
            </a:pPr>
            <a:r>
              <a:t>Demo cue: show docker-compose.yml, API docs, repository README, and a verified live app if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9672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>
                <a:solidFill>
                  <a:srgbClr val="5B636E"/>
                </a:solidFill>
                <a:latin typeface="Aptos"/>
              </a:defRPr>
            </a:pPr>
            <a:r>
              <a:t>DevWind Analytics  |  January 2026 pilot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>
                <a:solidFill>
                  <a:srgbClr val="D2D7DD"/>
                </a:solidFill>
                <a:latin typeface="Aptos"/>
              </a:defRPr>
            </a:pPr>
            <a:r>
              <a:t>PART B ·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560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D2D7D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55680" cy="10972"/>
          </a:xfrm>
          <a:prstGeom prst="rect">
            <a:avLst/>
          </a:prstGeom>
          <a:solidFill>
            <a:srgbClr val="464A50"/>
          </a:solidFill>
          <a:ln>
            <a:solidFill>
              <a:srgbClr val="464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80467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Correct data first.</a:t>
            </a:r>
            <a:br/>
            <a:r>
              <a:t>Clear interfaces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560320"/>
            <a:ext cx="93268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0">
                <a:solidFill>
                  <a:srgbClr val="CDD3DA"/>
                </a:solidFill>
                <a:latin typeface="Aptos"/>
              </a:defRPr>
            </a:pPr>
            <a:r>
              <a:t>The core engineering decision is to preserve the information available at decision time and make the analysis reproducible, testable and transparent.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931920"/>
            <a:ext cx="2103120" cy="54864"/>
          </a:xfrm>
          <a:prstGeom prst="rect">
            <a:avLst/>
          </a:prstGeom>
          <a:solidFill>
            <a:srgbClr val="2C7E5B"/>
          </a:solidFill>
          <a:ln>
            <a:solidFill>
              <a:srgbClr val="2C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25196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Review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45152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DD3DA"/>
                </a:solidFill>
                <a:latin typeface="Aptos"/>
              </a:defRPr>
            </a:pPr>
            <a:r>
              <a:t>Forecast cutoff · Timezone handling · Metrics tests · Data provenance · Docker · Deployment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80644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End of technical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1722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AB1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